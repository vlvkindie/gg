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9ec9a6f58c475a" /><Relationship Type="http://schemas.openxmlformats.org/officeDocument/2006/relationships/extended-properties" Target="/docProps/app.xml" Id="R7943072b67e449da" /><Relationship Type="http://schemas.openxmlformats.org/officeDocument/2006/relationships/officeDocument" Target="/ppt/presentation.xml" Id="R90da77853e2546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b0457b9d584fe5"/>
  </p:sldMasterIdLst>
  <p:notesMasterIdLst>
    <p:notesMasterId xmlns:r="http://schemas.openxmlformats.org/officeDocument/2006/relationships" r:id="R4b485d735a314241"/>
  </p:notesMasterIdLst>
  <p:sldIdLst>
    <p:sldId xmlns:r="http://schemas.openxmlformats.org/officeDocument/2006/relationships" id="256" r:id="Re66a338094994ab6"/>
    <p:sldId xmlns:r="http://schemas.openxmlformats.org/officeDocument/2006/relationships" id="257" r:id="Rf059596722d04331"/>
    <p:sldId xmlns:r="http://schemas.openxmlformats.org/officeDocument/2006/relationships" id="258" r:id="R53a736f2a1a645e0"/>
    <p:sldId xmlns:r="http://schemas.openxmlformats.org/officeDocument/2006/relationships" id="259" r:id="R29565c25e509482d"/>
    <p:sldId xmlns:r="http://schemas.openxmlformats.org/officeDocument/2006/relationships" id="260" r:id="Rb2f957d62aa24327"/>
    <p:sldId xmlns:r="http://schemas.openxmlformats.org/officeDocument/2006/relationships" id="261" r:id="R2e0214032e804ac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9078662b72436b" /><Relationship Type="http://schemas.openxmlformats.org/officeDocument/2006/relationships/slideMaster" Target="/ppt/slideMasters/slideMaster1.xml" Id="Re9b0457b9d584fe5" /><Relationship Type="http://schemas.openxmlformats.org/officeDocument/2006/relationships/notesMaster" Target="/ppt/notesMasters/notesMaster1.xml" Id="R4b485d735a314241" /><Relationship Type="http://schemas.openxmlformats.org/officeDocument/2006/relationships/presProps" Target="/ppt/presProps.xml" Id="R886557640d62453a" /><Relationship Type="http://schemas.openxmlformats.org/officeDocument/2006/relationships/tableStyles" Target="/ppt/tableStyles.xml" Id="R03b97ac927444084" /><Relationship Type="http://schemas.openxmlformats.org/officeDocument/2006/relationships/slide" Target="/ppt/slides/slide1.xml" Id="Re66a338094994ab6" /><Relationship Type="http://schemas.openxmlformats.org/officeDocument/2006/relationships/slide" Target="/ppt/slides/slide2.xml" Id="Rf059596722d04331" /><Relationship Type="http://schemas.openxmlformats.org/officeDocument/2006/relationships/slide" Target="/ppt/slides/slide3.xml" Id="R53a736f2a1a645e0" /><Relationship Type="http://schemas.openxmlformats.org/officeDocument/2006/relationships/slide" Target="/ppt/slides/slide4.xml" Id="R29565c25e509482d" /><Relationship Type="http://schemas.openxmlformats.org/officeDocument/2006/relationships/slide" Target="/ppt/slides/slide5.xml" Id="Rb2f957d62aa24327" /><Relationship Type="http://schemas.openxmlformats.org/officeDocument/2006/relationships/slide" Target="/ppt/slides/slide6.xml" Id="R2e0214032e804ac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772a0d68cb49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c252ae40024ab9" /><Relationship Type="http://schemas.openxmlformats.org/officeDocument/2006/relationships/notesMaster" Target="/ppt/notesMasters/notesMaster1.xml" Id="R943816fabf5d41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aa04306318c46e9" /><Relationship Type="http://schemas.openxmlformats.org/officeDocument/2006/relationships/notesMaster" Target="/ppt/notesMasters/notesMaster1.xml" Id="R1b2c7f39c09b423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67f23b5fe44474" /><Relationship Type="http://schemas.openxmlformats.org/officeDocument/2006/relationships/notesMaster" Target="/ppt/notesMasters/notesMaster1.xml" Id="Rc74b12e3b1bf4e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70ec2a5dd864ae0" /><Relationship Type="http://schemas.openxmlformats.org/officeDocument/2006/relationships/notesMaster" Target="/ppt/notesMasters/notesMaster1.xml" Id="R2a819a1418cf4b1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a9c7a6fb5fe45c1" /><Relationship Type="http://schemas.openxmlformats.org/officeDocument/2006/relationships/notesMaster" Target="/ppt/notesMasters/notesMaster1.xml" Id="R4ac00df27078447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b4680c694a14c7f" /><Relationship Type="http://schemas.openxmlformats.org/officeDocument/2006/relationships/notesMaster" Target="/ppt/notesMasters/notesMaster1.xml" Id="R0a7a1f882d274a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user-supplied starter README; solution/rmsnorm.py; solution/rope.py; LOG.md. Reference contracts: Transformers v5.16.1 modeling_qwen2.py. This presentation describes an implementation candidate. All T4 result fields remain pending; no GPU performance claim is made. Ideas and papers: SOURCES.md.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user-supplied starter README; solution/rmsnorm.py; solution/rope.py; LOG.md. Reference contracts: Transformers v5.16.1 modeling_qwen2.py. This presentation describes an implementation candidate. All T4 result fields remain pending; no GPU performance claim is made. Ideas and papers: SOURCES.md.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user-supplied starter README; solution/rmsnorm.py; solution/rope.py; LOG.md. Reference contracts: Transformers v5.16.1 modeling_qwen2.py. This presentation describes an implementation candidate. All T4 result fields remain pending; no GPU performance claim is made. Ideas and papers: SOURCES.md.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user-supplied starter README; solution/rmsnorm.py; solution/rope.py; LOG.md. Reference contracts: Transformers v5.16.1 modeling_qwen2.py. This presentation describes an implementation candidate. All T4 result fields remain pending; no GPU performance claim is made. Ideas and papers: SOURCES.md.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user-supplied starter README; solution/rmsnorm.py; solution/rope.py; LOG.md. Reference contracts: Transformers v5.16.1 modeling_qwen2.py. This presentation describes an implementation candidate. All T4 result fields remain pending; no GPU performance claim is made. Ideas and papers: SOURCES.md.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user-supplied starter README; solution/rmsnorm.py; solution/rope.py; LOG.md. Reference contracts: Transformers v5.16.1 modeling_qwen2.py. This presentation describes an implementation candidate. All T4 result fields remain pending; no GPU performance claim is made. Ideas and papers: SOURCES.md.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4b52b6321b490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a7a6e9d982400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9ced79b2a9496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98211059cc451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dba9bff4364be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f1d44505b849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56C625-7CC6-4594-864F-82B005F8F0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5182051-A36C-48F3-88C7-BC04123A14A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73BC202-75E3-47B8-B0D9-5473BD81D6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0570333-3AA2-4FC1-8B77-7A3AD21220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58AE865-ACE9-4C66-BD04-E5662FA752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804657C-EDC8-43B3-BCF1-A529BE6A8B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F9AC073-A514-4321-9594-3799E6637F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DB8176F-E8EE-46DE-B60B-A2663A5CA05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58DD1C1-B604-411D-BF23-4CBBDBAF68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99AF996-5C3D-4950-B1A1-5A8FA6C241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7e549acf474526" /><Relationship Type="http://schemas.openxmlformats.org/officeDocument/2006/relationships/slideLayout" Target="/ppt/slideLayouts/slideLayout1.xml" Id="R8fec84801c84499a" /><Relationship Type="http://schemas.openxmlformats.org/officeDocument/2006/relationships/slideLayout" Target="/ppt/slideLayouts/slideLayout2.xml" Id="Rd5526ffded7e4c17" /><Relationship Type="http://schemas.openxmlformats.org/officeDocument/2006/relationships/slideLayout" Target="/ppt/slideLayouts/slideLayout3.xml" Id="Rf51036ca006649ed" /><Relationship Type="http://schemas.openxmlformats.org/officeDocument/2006/relationships/slideLayout" Target="/ppt/slideLayouts/slideLayout4.xml" Id="R792a19365c764bc2" /><Relationship Type="http://schemas.openxmlformats.org/officeDocument/2006/relationships/slideLayout" Target="/ppt/slideLayouts/slideLayout5.xml" Id="Rcbf22dc2a851424e" /><Relationship Type="http://schemas.openxmlformats.org/officeDocument/2006/relationships/slideLayout" Target="/ppt/slideLayouts/slideLayout6.xml" Id="R124c7184036345f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ec84801c84499a"/>
    <p:sldLayoutId xmlns:r="http://schemas.openxmlformats.org/officeDocument/2006/relationships" id="2147483650" r:id="Rd5526ffded7e4c17"/>
    <p:sldLayoutId xmlns:r="http://schemas.openxmlformats.org/officeDocument/2006/relationships" id="2147483651" r:id="Rf51036ca006649ed"/>
    <p:sldLayoutId xmlns:r="http://schemas.openxmlformats.org/officeDocument/2006/relationships" id="2147483652" r:id="R792a19365c764bc2"/>
    <p:sldLayoutId xmlns:r="http://schemas.openxmlformats.org/officeDocument/2006/relationships" id="2147483653" r:id="Rcbf22dc2a851424e"/>
    <p:sldLayoutId xmlns:r="http://schemas.openxmlformats.org/officeDocument/2006/relationships" id="2147483654" r:id="R124c7184036345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f1c6cd758a4fdd" /><Relationship Type="http://schemas.openxmlformats.org/officeDocument/2006/relationships/notesSlide" Target="/ppt/notesSlides/notesSlide1.xml" Id="Rac37e062ec294fc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f94d47b0884180" /><Relationship Type="http://schemas.openxmlformats.org/officeDocument/2006/relationships/notesSlide" Target="/ppt/notesSlides/notesSlide2.xml" Id="Rf96660a4dfab4bb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aa831babb0467e" /><Relationship Type="http://schemas.openxmlformats.org/officeDocument/2006/relationships/notesSlide" Target="/ppt/notesSlides/notesSlide3.xml" Id="R18d3b061edb8474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2154a823d44cb9" /><Relationship Type="http://schemas.openxmlformats.org/officeDocument/2006/relationships/notesSlide" Target="/ppt/notesSlides/notesSlide4.xml" Id="Rcbbf97973e18403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eee5e633de433f" /><Relationship Type="http://schemas.openxmlformats.org/officeDocument/2006/relationships/notesSlide" Target="/ppt/notesSlides/notesSlide5.xml" Id="R061541db04e84ee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8b15c9f2834e9a" /><Relationship Type="http://schemas.openxmlformats.org/officeDocument/2006/relationships/notesSlide" Target="/ppt/notesSlides/notesSlide6.xml" Id="R466b401c75324c8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B20D6B-8005-47AF-AF7B-A3B4D623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107823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25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defPPr>
            <a:lvl1pPr>
              <a:defRPr sz="525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lvl1pPr>
            <a:lvl2pPr>
              <a:defRPr sz="525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lvl2pPr>
            <a:lvl3pPr>
              <a:defRPr sz="525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lvl3pPr>
            <a:lvl4pPr>
              <a:defRPr sz="525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lvl4pPr>
            <a:lvl5pPr>
              <a:defRPr sz="525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lvl5pPr>
            <a:lvl6pPr>
              <a:defRPr sz="525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lvl6pPr>
            <a:lvl7pPr>
              <a:defRPr sz="525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lvl7pPr>
            <a:lvl8pPr>
              <a:defRPr sz="525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lvl8pPr>
            <a:lvl9pPr>
              <a:defRPr sz="525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25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17243A"/>
                </a:solidFill>
                <a:latin typeface="Arial"/>
                <a:ea typeface="Arial"/>
                <a:cs typeface="Arial"/>
              </a:rPr>
              <a:t>Soup Kernel Challenge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DACEDB-CCC7-4846-8328-EEDC4FA70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defPPr>
            <a:lvl1pPr>
              <a:defRPr sz="2775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1pPr>
            <a:lvl2pPr>
              <a:defRPr sz="2775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2pPr>
            <a:lvl3pPr>
              <a:defRPr sz="2775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3pPr>
            <a:lvl4pPr>
              <a:defRPr sz="2775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4pPr>
            <a:lvl5pPr>
              <a:defRPr sz="2775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5pPr>
            <a:lvl6pPr>
              <a:defRPr sz="2775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6pPr>
            <a:lvl7pPr>
              <a:defRPr sz="2775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7pPr>
            <a:lvl8pPr>
              <a:defRPr sz="2775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8pPr>
            <a:lvl9pPr>
              <a:defRPr sz="2775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75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243A"/>
                </a:solidFill>
                <a:latin typeface="Arial"/>
                <a:ea typeface="Arial"/>
                <a:cs typeface="Arial"/>
              </a:rPr>
              <a:t>RMSNorm and rotary embedding kernels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476DC7-B6D4-4AA9-8FF2-CA45043D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38650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665A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665A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665A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665A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665A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665A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665A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665A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665A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66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665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665A"/>
                </a:solidFill>
                <a:latin typeface="Arial"/>
                <a:ea typeface="Arial"/>
                <a:cs typeface="Arial"/>
              </a:rPr>
              <a:t>gg</a:t>
            </a:r>
          </a:p>
          <a:p xmlns:a="http://schemas.openxmlformats.org/drawingml/2006/main">
            <a:pPr>
              <a:defRPr sz="2025" b="0">
                <a:solidFill>
                  <a:srgbClr val="16665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665A"/>
                </a:solidFill>
                <a:latin typeface="Arial"/>
                <a:ea typeface="Arial"/>
                <a:cs typeface="Arial"/>
              </a:rPr>
              <a:t>Implementation candidate</a:t>
            </a:r>
          </a:p>
          <a:p xmlns:a="http://schemas.openxmlformats.org/drawingml/2006/main">
            <a:pPr>
              <a:defRPr sz="2025" b="0">
                <a:solidFill>
                  <a:srgbClr val="16665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665A"/>
                </a:solidFill>
                <a:latin typeface="Arial"/>
                <a:ea typeface="Arial"/>
                <a:cs typeface="Arial"/>
              </a:rPr>
              <a:t>T4 measurements pending</a:t>
            </a:r>
          </a:p>
        </p:txBody>
      </p:sp>
    </p:spTree>
    <p:extLst>
      <p:ext uri="{BB962C8B-B14F-4D97-AF65-F5344CB8AC3E}">
        <p14:creationId xmlns:p14="http://schemas.microsoft.com/office/powerpoint/2010/main" val="8387530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F53E33-364C-4A67-B764-D25BC9C2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"/>
            <a:ext cx="10782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43A"/>
                </a:solidFill>
                <a:latin typeface="Arial"/>
                <a:ea typeface="Arial"/>
                <a:cs typeface="Arial"/>
              </a:rPr>
              <a:t>Fixed training task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A7100E-05BE-4756-A8F5-0D1084D6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10668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defPPr>
            <a:lvl1pPr>
              <a:defRPr sz="2700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1pPr>
            <a:lvl2pPr>
              <a:defRPr sz="2700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2pPr>
            <a:lvl3pPr>
              <a:defRPr sz="2700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3pPr>
            <a:lvl4pPr>
              <a:defRPr sz="2700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4pPr>
            <a:lvl5pPr>
              <a:defRPr sz="2700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5pPr>
            <a:lvl6pPr>
              <a:defRPr sz="2700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6pPr>
            <a:lvl7pPr>
              <a:defRPr sz="2700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7pPr>
            <a:lvl8pPr>
              <a:defRPr sz="2700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8pPr>
            <a:lvl9pPr>
              <a:defRPr sz="2700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7243A"/>
                </a:solidFill>
                <a:latin typeface="Arial"/>
                <a:ea typeface="Arial"/>
                <a:cs typeface="Arial"/>
              </a:rPr>
              <a:t>Qwen2.5-1.5B-Instruct</a:t>
            </a:r>
          </a:p>
          <a:p xmlns:a="http://schemas.openxmlformats.org/drawingml/2006/main">
            <a:pPr>
              <a:defRPr sz="2700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7243A"/>
                </a:solidFill>
                <a:latin typeface="Arial"/>
                <a:ea typeface="Arial"/>
                <a:cs typeface="Arial"/>
              </a:rPr>
              <a:t>NF4 weights with LoRA r=16, alpha=32</a:t>
            </a:r>
          </a:p>
          <a:p xmlns:a="http://schemas.openxmlformats.org/drawingml/2006/main">
            <a:pPr>
              <a:defRPr sz="2700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7243A"/>
                </a:solidFill>
                <a:latin typeface="Arial"/>
                <a:ea typeface="Arial"/>
                <a:cs typeface="Arial"/>
              </a:rPr>
              <a:t>256 instruction rows, batch 4, 64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80E60A-A3F1-47E7-8873-BC322D2A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F536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3F536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3F536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3F536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3F536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3F536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3F536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3F536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3F536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3F53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F536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F5363"/>
                </a:solidFill>
                <a:latin typeface="Arial"/>
                <a:ea typeface="Arial"/>
                <a:cs typeface="Arial"/>
              </a:rPr>
              <a:t>The model, data, optimizer and task configuration stay unchanged.</a:t>
            </a:r>
          </a:p>
          <a:p xmlns:a="http://schemas.openxmlformats.org/drawingml/2006/main">
            <a:pPr>
              <a:defRPr sz="2025" b="0">
                <a:solidFill>
                  <a:srgbClr val="3F536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F5363"/>
                </a:solidFill>
                <a:latin typeface="Arial"/>
                <a:ea typeface="Arial"/>
                <a:cs typeface="Arial"/>
              </a:rPr>
              <a:t>Official measurements require a Kaggle T4.</a:t>
            </a:r>
          </a:p>
        </p:txBody>
      </p:sp>
    </p:spTree>
    <p:extLst>
      <p:ext uri="{BB962C8B-B14F-4D97-AF65-F5344CB8AC3E}">
        <p14:creationId xmlns:p14="http://schemas.microsoft.com/office/powerpoint/2010/main" val="3280121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E91DE8-96FF-4924-ACC1-2AF83155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"/>
            <a:ext cx="10782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43A"/>
                </a:solidFill>
                <a:latin typeface="Arial"/>
                <a:ea typeface="Arial"/>
                <a:cs typeface="Arial"/>
              </a:rPr>
              <a:t>RMSNorm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7FD56E-BDD3-45E4-AD29-3373513E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10668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defPPr>
            <a:lvl1pPr>
              <a:defRPr sz="2700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1pPr>
            <a:lvl2pPr>
              <a:defRPr sz="2700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2pPr>
            <a:lvl3pPr>
              <a:defRPr sz="2700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3pPr>
            <a:lvl4pPr>
              <a:defRPr sz="2700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4pPr>
            <a:lvl5pPr>
              <a:defRPr sz="2700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5pPr>
            <a:lvl6pPr>
              <a:defRPr sz="2700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6pPr>
            <a:lvl7pPr>
              <a:defRPr sz="2700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7pPr>
            <a:lvl8pPr>
              <a:defRPr sz="2700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8pPr>
            <a:lvl9pPr>
              <a:defRPr sz="2700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7243A"/>
                </a:solidFill>
                <a:latin typeface="Arial"/>
                <a:ea typeface="Arial"/>
                <a:cs typeface="Arial"/>
              </a:rPr>
              <a:t>r = 1 / sqrt(mean(x*x) + eps)</a:t>
            </a:r>
          </a:p>
          <a:p xmlns:a="http://schemas.openxmlformats.org/drawingml/2006/main">
            <a:pPr>
              <a:defRPr sz="2700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7243A"/>
                </a:solidFill>
                <a:latin typeface="Arial"/>
                <a:ea typeface="Arial"/>
                <a:cs typeface="Arial"/>
              </a:rPr>
              <a:t>y = weight * cast_input_dtype(x*r)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AE0DDB-E492-4C6E-A62F-DF4A17E8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F536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3F536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3F536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3F536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3F536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3F536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3F536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3F536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3F536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3F53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F536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F5363"/>
                </a:solidFill>
                <a:latin typeface="Arial"/>
                <a:ea typeface="Arial"/>
                <a:cs typeface="Arial"/>
              </a:rPr>
              <a:t>One reduction per row with FP32 accumulation.</a:t>
            </a:r>
          </a:p>
          <a:p xmlns:a="http://schemas.openxmlformats.org/drawingml/2006/main">
            <a:pPr>
              <a:defRPr sz="2025" b="0">
                <a:solidFill>
                  <a:srgbClr val="3F536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F5363"/>
                </a:solidFill>
                <a:latin typeface="Arial"/>
                <a:ea typeface="Arial"/>
                <a:cs typeface="Arial"/>
              </a:rPr>
              <a:t>Backward uses the derived normalization Jacobian.</a:t>
            </a:r>
          </a:p>
          <a:p xmlns:a="http://schemas.openxmlformats.org/drawingml/2006/main">
            <a:pPr>
              <a:defRPr sz="2025" b="0">
                <a:solidFill>
                  <a:srgbClr val="3F536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F5363"/>
                </a:solidFill>
                <a:latin typeface="Arial"/>
                <a:ea typeface="Arial"/>
                <a:cs typeface="Arial"/>
              </a:rPr>
              <a:t>Frozen weights and supported tensors use the kernel.</a:t>
            </a:r>
          </a:p>
        </p:txBody>
      </p:sp>
    </p:spTree>
    <p:extLst>
      <p:ext uri="{BB962C8B-B14F-4D97-AF65-F5344CB8AC3E}">
        <p14:creationId xmlns:p14="http://schemas.microsoft.com/office/powerpoint/2010/main" val="11791589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C75DD5-6077-4FC4-B85E-35DC7146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"/>
            <a:ext cx="10782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43A"/>
                </a:solidFill>
                <a:latin typeface="Arial"/>
                <a:ea typeface="Arial"/>
                <a:cs typeface="Arial"/>
              </a:rPr>
              <a:t>Rotary positions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8D3D91-E0C6-4167-B034-82B080F05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10668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defPPr>
            <a:lvl1pPr>
              <a:defRPr sz="2700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1pPr>
            <a:lvl2pPr>
              <a:defRPr sz="2700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2pPr>
            <a:lvl3pPr>
              <a:defRPr sz="2700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3pPr>
            <a:lvl4pPr>
              <a:defRPr sz="2700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4pPr>
            <a:lvl5pPr>
              <a:defRPr sz="2700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5pPr>
            <a:lvl6pPr>
              <a:defRPr sz="2700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6pPr>
            <a:lvl7pPr>
              <a:defRPr sz="2700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7pPr>
            <a:lvl8pPr>
              <a:defRPr sz="2700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8pPr>
            <a:lvl9pPr>
              <a:defRPr sz="2700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7243A"/>
                </a:solidFill>
                <a:latin typeface="Arial"/>
                <a:ea typeface="Arial"/>
                <a:cs typeface="Arial"/>
              </a:rPr>
              <a:t>out_a = a*c0 - b*s0</a:t>
            </a:r>
          </a:p>
          <a:p xmlns:a="http://schemas.openxmlformats.org/drawingml/2006/main">
            <a:pPr>
              <a:defRPr sz="2700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7243A"/>
                </a:solidFill>
                <a:latin typeface="Arial"/>
                <a:ea typeface="Arial"/>
                <a:cs typeface="Arial"/>
              </a:rPr>
              <a:t>out_b = b*c1 + a*s1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E3BDF2-CED8-4D39-9E6E-55D267F5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F536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3F536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3F536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3F536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3F536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3F536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3F536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3F536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3F536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3F53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F536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F5363"/>
                </a:solidFill>
                <a:latin typeface="Arial"/>
                <a:ea typeface="Arial"/>
                <a:cs typeface="Arial"/>
              </a:rPr>
              <a:t>Query and key heads share one launch.</a:t>
            </a:r>
          </a:p>
          <a:p xmlns:a="http://schemas.openxmlformats.org/drawingml/2006/main">
            <a:pPr>
              <a:defRPr sz="2025" b="0">
                <a:solidFill>
                  <a:srgbClr val="3F536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F5363"/>
                </a:solidFill>
                <a:latin typeface="Arial"/>
                <a:ea typeface="Arial"/>
                <a:cs typeface="Arial"/>
              </a:rPr>
              <a:t>Backward applies the transposed Jacobian.</a:t>
            </a:r>
          </a:p>
          <a:p xmlns:a="http://schemas.openxmlformats.org/drawingml/2006/main">
            <a:pPr>
              <a:defRPr sz="2025" b="0">
                <a:solidFill>
                  <a:srgbClr val="3F536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F5363"/>
                </a:solidFill>
                <a:latin typeface="Arial"/>
                <a:ea typeface="Arial"/>
                <a:cs typeface="Arial"/>
              </a:rPr>
              <a:t>Strided inputs and broadcast coefficients are supported.</a:t>
            </a:r>
          </a:p>
        </p:txBody>
      </p:sp>
    </p:spTree>
    <p:extLst>
      <p:ext uri="{BB962C8B-B14F-4D97-AF65-F5344CB8AC3E}">
        <p14:creationId xmlns:p14="http://schemas.microsoft.com/office/powerpoint/2010/main" val="10055682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2D4A97-1F96-4EF8-BE0F-741675C74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"/>
            <a:ext cx="10782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43A"/>
                </a:solidFill>
                <a:latin typeface="Arial"/>
                <a:ea typeface="Arial"/>
                <a:cs typeface="Arial"/>
              </a:rPr>
              <a:t>Local validation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D1DF13-5BD4-4071-A099-82ED9745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10668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defPPr>
            <a:lvl1pPr>
              <a:defRPr sz="2700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1pPr>
            <a:lvl2pPr>
              <a:defRPr sz="2700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2pPr>
            <a:lvl3pPr>
              <a:defRPr sz="2700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3pPr>
            <a:lvl4pPr>
              <a:defRPr sz="2700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4pPr>
            <a:lvl5pPr>
              <a:defRPr sz="2700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5pPr>
            <a:lvl6pPr>
              <a:defRPr sz="2700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6pPr>
            <a:lvl7pPr>
              <a:defRPr sz="2700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7pPr>
            <a:lvl8pPr>
              <a:defRPr sz="2700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8pPr>
            <a:lvl9pPr>
              <a:defRPr sz="2700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7243A"/>
                </a:solidFill>
                <a:latin typeface="Arial"/>
                <a:ea typeface="Arial"/>
                <a:cs typeface="Arial"/>
              </a:rPr>
              <a:t>79 Soup regression tests passed</a:t>
            </a:r>
          </a:p>
          <a:p xmlns:a="http://schemas.openxmlformats.org/drawingml/2006/main">
            <a:pPr>
              <a:defRPr sz="2700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7243A"/>
                </a:solidFill>
                <a:latin typeface="Arial"/>
                <a:ea typeface="Arial"/>
                <a:cs typeface="Arial"/>
              </a:rPr>
              <a:t>7 solution tests passed</a:t>
            </a:r>
          </a:p>
          <a:p xmlns:a="http://schemas.openxmlformats.org/drawingml/2006/main">
            <a:pPr>
              <a:defRPr sz="2700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7243A"/>
                </a:solidFill>
                <a:latin typeface="Arial"/>
                <a:ea typeface="Arial"/>
                <a:cs typeface="Arial"/>
              </a:rPr>
              <a:t>21 tests skipped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B65851-DE93-44E5-94A6-07AEFEA2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F536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3F536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3F536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3F536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3F536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3F536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3F536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3F536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3F536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3F53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F536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F5363"/>
                </a:solidFill>
                <a:latin typeface="Arial"/>
                <a:ea typeface="Arial"/>
                <a:cs typeface="Arial"/>
              </a:rPr>
              <a:t>CPU results establish import compatibility and derivative algebra.</a:t>
            </a:r>
          </a:p>
          <a:p xmlns:a="http://schemas.openxmlformats.org/drawingml/2006/main">
            <a:pPr>
              <a:defRPr sz="2025" b="0">
                <a:solidFill>
                  <a:srgbClr val="3F536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F5363"/>
                </a:solidFill>
                <a:latin typeface="Arial"/>
                <a:ea typeface="Arial"/>
                <a:cs typeface="Arial"/>
              </a:rPr>
              <a:t>Compiled GPU execution and training correctness remain unverified.</a:t>
            </a:r>
          </a:p>
        </p:txBody>
      </p:sp>
    </p:spTree>
    <p:extLst>
      <p:ext uri="{BB962C8B-B14F-4D97-AF65-F5344CB8AC3E}">
        <p14:creationId xmlns:p14="http://schemas.microsoft.com/office/powerpoint/2010/main" val="6786656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FBC8D-0F67-4709-B109-5A00E6D5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"/>
            <a:ext cx="10782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43A"/>
                </a:solidFill>
                <a:latin typeface="Arial"/>
                <a:ea typeface="Arial"/>
                <a:cs typeface="Arial"/>
              </a:rPr>
              <a:t>T4 results and limits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3218EA-9F3D-4426-810F-FF85F114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10668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defPPr>
            <a:lvl1pPr>
              <a:defRPr sz="2700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1pPr>
            <a:lvl2pPr>
              <a:defRPr sz="2700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2pPr>
            <a:lvl3pPr>
              <a:defRPr sz="2700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3pPr>
            <a:lvl4pPr>
              <a:defRPr sz="2700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4pPr>
            <a:lvl5pPr>
              <a:defRPr sz="2700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5pPr>
            <a:lvl6pPr>
              <a:defRPr sz="2700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6pPr>
            <a:lvl7pPr>
              <a:defRPr sz="2700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7pPr>
            <a:lvl8pPr>
              <a:defRPr sz="2700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8pPr>
            <a:lvl9pPr>
              <a:defRPr sz="2700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7243A"/>
                </a:solidFill>
                <a:latin typeface="Arial"/>
                <a:ea typeface="Arial"/>
                <a:cs typeface="Arial"/>
              </a:rPr>
              <a:t>Speed, peak memory and quality: pending</a:t>
            </a:r>
          </a:p>
          <a:p xmlns:a="http://schemas.openxmlformats.org/drawingml/2006/main">
            <a:pPr>
              <a:defRPr sz="2700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7243A"/>
                </a:solidFill>
                <a:latin typeface="Arial"/>
                <a:ea typeface="Arial"/>
                <a:cs typeface="Arial"/>
              </a:rPr>
              <a:t>Original-kernel training share: pending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F01879-611A-4568-8113-53DA02AE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F536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3F536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3F536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3F536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3F536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3F536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3F536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3F536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3F536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3F53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F536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F5363"/>
                </a:solidFill>
                <a:latin typeface="Arial"/>
                <a:ea typeface="Arial"/>
                <a:cs typeface="Arial"/>
              </a:rPr>
              <a:t>The example SwiGLU does not count toward original-kernel share.</a:t>
            </a:r>
          </a:p>
          <a:p xmlns:a="http://schemas.openxmlformats.org/drawingml/2006/main">
            <a:pPr>
              <a:defRPr sz="2025" b="0">
                <a:solidFill>
                  <a:srgbClr val="3F536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F5363"/>
                </a:solidFill>
                <a:latin typeface="Arial"/>
                <a:ea typeface="Arial"/>
                <a:cs typeface="Arial"/>
              </a:rPr>
              <a:t>The official harness decides whether every check passes.</a:t>
            </a:r>
          </a:p>
          <a:p xmlns:a="http://schemas.openxmlformats.org/drawingml/2006/main">
            <a:pPr>
              <a:defRPr sz="2025" b="0">
                <a:solidFill>
                  <a:srgbClr val="3F536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F5363"/>
                </a:solidFill>
                <a:latin typeface="Arial"/>
                <a:ea typeface="Arial"/>
                <a:cs typeface="Arial"/>
              </a:rPr>
              <a:t>Reproduce: python scripts/run_validation.py full</a:t>
            </a:r>
          </a:p>
        </p:txBody>
      </p:sp>
    </p:spTree>
    <p:extLst>
      <p:ext uri="{BB962C8B-B14F-4D97-AF65-F5344CB8AC3E}">
        <p14:creationId xmlns:p14="http://schemas.microsoft.com/office/powerpoint/2010/main" val="17514465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2026-10-30T16:37:09.1230000Z</dcterms:created>
  <dcterms:modified xsi:type="dcterms:W3CDTF">2026-10-30T16:37:09.1230000Z</dcterms:modified>
</coreProperties>
</file>